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4610"/>
  </p:normalViewPr>
  <p:slideViewPr>
    <p:cSldViewPr snapToGrid="0" snapToObjects="1">
      <p:cViewPr varScale="1">
        <p:scale>
          <a:sx n="195" d="100"/>
          <a:sy n="195" d="100"/>
        </p:scale>
        <p:origin x="29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632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0" y="2667000"/>
            <a:ext cx="1714500" cy="1714500"/>
          </a:xfrm>
          <a:prstGeom prst="roundRect">
            <a:avLst>
              <a:gd name="adj" fmla="val 53333"/>
            </a:avLst>
          </a:prstGeom>
          <a:noFill/>
          <a:ln w="2857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29500" y="381000"/>
            <a:ext cx="762000" cy="7620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91384" y="1489918"/>
            <a:ext cx="17609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GUIDE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24865" y="1828949"/>
            <a:ext cx="5894121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9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Web Application</a:t>
            </a:r>
            <a:endParaRPr lang="en-US" sz="3900" dirty="0"/>
          </a:p>
          <a:p>
            <a:pPr marL="0" indent="0" algn="ctr">
              <a:lnSpc>
                <a:spcPts val="429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4000351" y="3146971"/>
            <a:ext cx="1143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45105" y="3413671"/>
            <a:ext cx="405364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Scalable, Secure &amp; Performant Applications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4644" y="4697760"/>
            <a:ext cx="6483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Edition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19810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52852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Modern Web Development?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1394073"/>
            <a:ext cx="4076700" cy="1098203"/>
          </a:xfrm>
          <a:prstGeom prst="roundRect">
            <a:avLst>
              <a:gd name="adj" fmla="val 6939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1546473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33400" y="1782663"/>
            <a:ext cx="384733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systematic approach to building web applications using current best practices, tools, and architectures that prioritize user experience, scalability, and maintainability.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81000" y="2606576"/>
            <a:ext cx="4076700" cy="819001"/>
          </a:xfrm>
          <a:prstGeom prst="roundRect">
            <a:avLst>
              <a:gd name="adj" fmla="val 9304"/>
            </a:avLst>
          </a:prstGeom>
          <a:solidFill>
            <a:srgbClr val="E8F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00050" y="2606576"/>
            <a:ext cx="0" cy="819001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2450" y="2739926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Pillars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2450" y="2957066"/>
            <a:ext cx="384733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825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Component-based architecture | API-first design | Cloud-native infrastructure | Continuous deployment | Security by design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81000" y="3539877"/>
            <a:ext cx="4076700" cy="819001"/>
          </a:xfrm>
          <a:prstGeom prst="roundRect">
            <a:avLst>
              <a:gd name="adj" fmla="val 930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14350" y="3673227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Stack Components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14350" y="3890367"/>
            <a:ext cx="388620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Framework + Backend API + Database + Cloud Infrastructure + CI/CD Pipeline + Monitoring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686300" y="2114699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CHARACTERISTICS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2356545"/>
            <a:ext cx="1308050" cy="653207"/>
          </a:xfrm>
          <a:prstGeom prst="roundRect">
            <a:avLst>
              <a:gd name="adj" fmla="val 874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89805" y="2470845"/>
            <a:ext cx="11010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789805" y="2655540"/>
            <a:ext cx="110103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load times, optimized bundles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6070550" y="2416522"/>
            <a:ext cx="1308050" cy="533251"/>
          </a:xfrm>
          <a:prstGeom prst="roundRect">
            <a:avLst>
              <a:gd name="adj" fmla="val 1071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174056" y="2530822"/>
            <a:ext cx="11010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6174056" y="2715518"/>
            <a:ext cx="1101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Mobile-first design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7454801" y="2416522"/>
            <a:ext cx="1308050" cy="533251"/>
          </a:xfrm>
          <a:prstGeom prst="roundRect">
            <a:avLst>
              <a:gd name="adj" fmla="val 1071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558306" y="2530822"/>
            <a:ext cx="11010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7558306" y="2715518"/>
            <a:ext cx="1101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security layers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4686300" y="3105001"/>
            <a:ext cx="1308050" cy="533251"/>
          </a:xfrm>
          <a:prstGeom prst="roundRect">
            <a:avLst>
              <a:gd name="adj" fmla="val 1071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89805" y="3219301"/>
            <a:ext cx="11010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Scalable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789805" y="3403997"/>
            <a:ext cx="1101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 growth seamlessly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6070550" y="3105001"/>
            <a:ext cx="1308050" cy="533251"/>
          </a:xfrm>
          <a:prstGeom prst="roundRect">
            <a:avLst>
              <a:gd name="adj" fmla="val 1071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174056" y="3219301"/>
            <a:ext cx="11010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Maintainable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6174056" y="3403997"/>
            <a:ext cx="1101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Clean, modular code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7454801" y="3105001"/>
            <a:ext cx="1308050" cy="533251"/>
          </a:xfrm>
          <a:prstGeom prst="roundRect">
            <a:avLst>
              <a:gd name="adj" fmla="val 1071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558306" y="3219301"/>
            <a:ext cx="11010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Testable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7558306" y="3403997"/>
            <a:ext cx="1101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testing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653f4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PATTERNS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13296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 vs MPA vs SSR vs SSG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97062"/>
            <a:ext cx="4114800" cy="1519833"/>
          </a:xfrm>
          <a:prstGeom prst="roundRect">
            <a:avLst>
              <a:gd name="adj" fmla="val 501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97062"/>
            <a:ext cx="0" cy="1519833"/>
          </a:xfrm>
          <a:prstGeom prst="line">
            <a:avLst/>
          </a:prstGeom>
          <a:noFill/>
          <a:ln w="381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2450" y="1630412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61D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 (Single Page Application)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52450" y="1860798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WORKS: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52450" y="2032248"/>
            <a:ext cx="3886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HTML page loads once. JavaScript handles all navigation and updates the DOM dynamically. No full page reloads.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552450" y="2346573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552450" y="2485579"/>
            <a:ext cx="38862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 | Admin panels | Web apps with heavy interaction | Gmail-like experiences | Real-time apps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552450" y="2763589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Gmail, Trello, Slack, Figma, Notion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81000" y="3112145"/>
            <a:ext cx="4114800" cy="1271290"/>
          </a:xfrm>
          <a:prstGeom prst="roundRect">
            <a:avLst>
              <a:gd name="adj" fmla="val 599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3112145"/>
            <a:ext cx="0" cy="127129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2450" y="3245495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MPA (Multi Page Application)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552450" y="3475881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WORKS: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52450" y="3647331"/>
            <a:ext cx="3886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page is a separate HTML file. Server renders complete pages. Full page reload on navigation.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552450" y="3833068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552450" y="3972074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Content-heavy sites | SEO critical | E-commerce | Blogs | News sites | Simple websites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552450" y="4130129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Amazon, Wikipedia, News sites, WordPress blogs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648200" y="1706017"/>
            <a:ext cx="4114800" cy="1891457"/>
          </a:xfrm>
          <a:prstGeom prst="roundRect">
            <a:avLst>
              <a:gd name="adj" fmla="val 402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81550" y="1839367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 vs SSG vs ISR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81550" y="2075557"/>
            <a:ext cx="3848100" cy="424755"/>
          </a:xfrm>
          <a:prstGeom prst="roundRect">
            <a:avLst>
              <a:gd name="adj" fmla="val 897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57750" y="2151757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 (Server-Side Rendering)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857750" y="2304157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generated on each request. Best for: Dynamic content, personalization, real-time data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4781550" y="2557463"/>
            <a:ext cx="3848100" cy="424755"/>
          </a:xfrm>
          <a:prstGeom prst="roundRect">
            <a:avLst>
              <a:gd name="adj" fmla="val 897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857750" y="2633663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SSG (Static Site Generation)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857750" y="2786063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generated at build time. Best for: Blogs, docs, marketing pages, portfolios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781550" y="3039368"/>
            <a:ext cx="3848100" cy="424755"/>
          </a:xfrm>
          <a:prstGeom prst="roundRect">
            <a:avLst>
              <a:gd name="adj" fmla="val 897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57750" y="3115568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39C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ISR (Incremental Static Regeneration)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857750" y="3267968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+ revalidation. Best for: E-commerce, news, content that updates periodically</a:t>
            </a:r>
            <a:endParaRPr lang="en-US" sz="675" dirty="0"/>
          </a:p>
        </p:txBody>
      </p:sp>
      <p:sp>
        <p:nvSpPr>
          <p:cNvPr id="32" name="Text 29"/>
          <p:cNvSpPr/>
          <p:nvPr/>
        </p:nvSpPr>
        <p:spPr>
          <a:xfrm>
            <a:off x="4648200" y="3692723"/>
            <a:ext cx="4114800" cy="481905"/>
          </a:xfrm>
          <a:prstGeom prst="roundRect">
            <a:avLst>
              <a:gd name="adj" fmla="val 11859"/>
            </a:avLst>
          </a:prstGeom>
          <a:solidFill>
            <a:srgbClr val="E8F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4667250" y="3692723"/>
            <a:ext cx="0" cy="481905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781550" y="3787973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 Pros &amp; Cons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81550" y="3959423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r>
              <a:rPr lang="en-US" sz="675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Fast navigation, smooth UX, less server load | </a:t>
            </a:r>
            <a:r>
              <a:rPr lang="en-US" sz="675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r>
              <a:rPr lang="en-US" sz="675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SEO challenges, initial load time, JS required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ARCHITECTURES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48674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PWA, JAMstack &amp; Micro-Frontends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1621334"/>
            <a:ext cx="4114800" cy="1271290"/>
          </a:xfrm>
          <a:prstGeom prst="roundRect">
            <a:avLst>
              <a:gd name="adj" fmla="val 5994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621334"/>
            <a:ext cx="0" cy="1271290"/>
          </a:xfrm>
          <a:prstGeom prst="line">
            <a:avLst/>
          </a:prstGeom>
          <a:noFill/>
          <a:ln w="38100">
            <a:solidFill>
              <a:srgbClr val="5A0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2450" y="1754684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 (Progressive Web App)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1985070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IS: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52450" y="2156520"/>
            <a:ext cx="3886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 that feels like native app. Works offline, installable, push notifications, fast loading.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52450" y="2342257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552450" y="2481263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Mobile-first apps | Offline functionality needed | Cross-platform without app stores | E-commerce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52450" y="2639318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Twitter Lite, Starbucks, Pinterest, Uber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81000" y="2987873"/>
            <a:ext cx="4114800" cy="1271290"/>
          </a:xfrm>
          <a:prstGeom prst="roundRect">
            <a:avLst>
              <a:gd name="adj" fmla="val 5994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2987873"/>
            <a:ext cx="0" cy="1271290"/>
          </a:xfrm>
          <a:prstGeom prst="line">
            <a:avLst/>
          </a:prstGeom>
          <a:noFill/>
          <a:ln w="38100">
            <a:solidFill>
              <a:srgbClr val="F0D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2450" y="3121223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0D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JAMstack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52450" y="3351609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52450" y="3523059"/>
            <a:ext cx="3886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+ APIs + Markup. Pre-built pages served from CDN, dynamic features via APIs.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52450" y="3708797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52450" y="3847802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Blogs | Documentation | Marketing sites | Portfolio | E-commerce storefronts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52450" y="4005858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 Gatsby, Hugo, Eleventy, Astro, Contentful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648200" y="1557040"/>
            <a:ext cx="4114800" cy="1399877"/>
          </a:xfrm>
          <a:prstGeom prst="roundRect">
            <a:avLst>
              <a:gd name="adj" fmla="val 5443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67250" y="1557040"/>
            <a:ext cx="0" cy="1399877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9650" y="1690390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Micro-Frontends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19650" y="1920776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IS: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19650" y="2092226"/>
            <a:ext cx="3886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frontend into independent, deployable pieces. Each team owns their part. Like microservices for frontend.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819650" y="2406551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819650" y="2545556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teams | Multiple frameworks | Independent deployments | Complex enterprise apps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819650" y="2703612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 Module Federation, Single-SPA, Qiankun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648200" y="3052167"/>
            <a:ext cx="4114800" cy="1271290"/>
          </a:xfrm>
          <a:prstGeom prst="roundRect">
            <a:avLst>
              <a:gd name="adj" fmla="val 5994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67250" y="3052167"/>
            <a:ext cx="0" cy="127129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19650" y="3185517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Islands Architecture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4819650" y="3415903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IS: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19650" y="3587353"/>
            <a:ext cx="3886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HTML with interactive "islands" of JavaScript. Only hydrate what needs interactivity.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819650" y="3773091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819650" y="3912096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sites with some interactivity | Performance critical | Minimal JS needed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4819650" y="4070152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 Astro, Fresh (Deno), Marko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LAYER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501319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Frameworks: When to Use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1147911"/>
            <a:ext cx="4114800" cy="1131391"/>
          </a:xfrm>
          <a:prstGeom prst="roundRect">
            <a:avLst>
              <a:gd name="adj" fmla="val 6735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147911"/>
            <a:ext cx="0" cy="1131391"/>
          </a:xfrm>
          <a:prstGeom prst="line">
            <a:avLst/>
          </a:prstGeom>
          <a:noFill/>
          <a:ln w="381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2450" y="1281261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61D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1511647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52450" y="1683097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Large-scale applications with complex state | Need vast ecosystem of libraries | Team already knows React | Building mobile apps too (React Native)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52450" y="2025997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Facebook, Netflix, Airbnb, Discord, Dropbox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81000" y="2374553"/>
            <a:ext cx="4114800" cy="1131391"/>
          </a:xfrm>
          <a:prstGeom prst="roundRect">
            <a:avLst>
              <a:gd name="adj" fmla="val 6735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374553"/>
            <a:ext cx="0" cy="1131391"/>
          </a:xfrm>
          <a:prstGeom prst="line">
            <a:avLst/>
          </a:prstGeom>
          <a:noFill/>
          <a:ln w="38100">
            <a:solidFill>
              <a:srgbClr val="41B8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2450" y="2507903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41B8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Vue.js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52450" y="2738289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52450" y="2909739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Progressive enhancement needed | Gentler learning curve required | Small to medium applications | Migrating from jQuery gradually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52450" y="3252639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Alibaba, GitLab, Nintendo, Grammarly, Zoom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81000" y="3601194"/>
            <a:ext cx="4114800" cy="1131391"/>
          </a:xfrm>
          <a:prstGeom prst="roundRect">
            <a:avLst>
              <a:gd name="adj" fmla="val 6735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601194"/>
            <a:ext cx="0" cy="1131391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2450" y="3734544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DD00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52450" y="3964930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52450" y="4136380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applications | Need opinionated structure | TypeScript-first development | Full framework with routing, forms, HTTP built-in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52450" y="4479280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Google, Microsoft Office, Samsung, BMW, Forbes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648200" y="1373684"/>
            <a:ext cx="4114800" cy="1131391"/>
          </a:xfrm>
          <a:prstGeom prst="roundRect">
            <a:avLst>
              <a:gd name="adj" fmla="val 6735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67250" y="1373684"/>
            <a:ext cx="0" cy="1131391"/>
          </a:xfrm>
          <a:prstGeom prst="line">
            <a:avLst/>
          </a:prstGeom>
          <a:noFill/>
          <a:ln w="38100">
            <a:solidFill>
              <a:srgbClr val="FF3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19650" y="1507034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3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Svelte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819650" y="1737420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19650" y="1908870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Performance-critical apps | Smallest bundle size needed | Compile-time optimization | Simple, less boilerplate code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19650" y="2251770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Apple Music, NY Times, Spotify widgets, 1Password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648200" y="2600325"/>
            <a:ext cx="4114800" cy="1131391"/>
          </a:xfrm>
          <a:prstGeom prst="roundRect">
            <a:avLst>
              <a:gd name="adj" fmla="val 6735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67250" y="2600325"/>
            <a:ext cx="0" cy="1131391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19650" y="2733675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Solid.js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4819650" y="2964061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19650" y="3135511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Maximum runtime performance | React-like syntax preferred | Fine-grained reactivity needed | Real-time data applications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19650" y="3478411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Trading platforms, Real-time dashboards, Gaming UIs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648200" y="3826966"/>
            <a:ext cx="4114800" cy="679996"/>
          </a:xfrm>
          <a:prstGeom prst="roundRect">
            <a:avLst>
              <a:gd name="adj" fmla="val 8404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62500" y="3941266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Decision: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762500" y="4125962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= Angular | Large ecosystem = React | Easy start = Vue | Max performance = Svelte/Solid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c7d6c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 FRAMEWORKS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13296"/>
            <a:ext cx="513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Frameworks: When to Use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147911"/>
            <a:ext cx="4114800" cy="1131391"/>
          </a:xfrm>
          <a:prstGeom prst="roundRect">
            <a:avLst>
              <a:gd name="adj" fmla="val 6735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147911"/>
            <a:ext cx="0" cy="1131391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2450" y="1281261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(React)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52450" y="1511647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52450" y="1683097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SEO is critical | Server-side rendering needed | Full-stack React app | E-commerce, marketing sites | API routes + frontend together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52450" y="2025997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TikTok, Hulu, Twitch, Nike, Target, Notion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81000" y="2374553"/>
            <a:ext cx="4114800" cy="1131391"/>
          </a:xfrm>
          <a:prstGeom prst="roundRect">
            <a:avLst>
              <a:gd name="adj" fmla="val 6735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374553"/>
            <a:ext cx="0" cy="1131391"/>
          </a:xfrm>
          <a:prstGeom prst="line">
            <a:avLst/>
          </a:prstGeom>
          <a:noFill/>
          <a:ln w="38100">
            <a:solidFill>
              <a:srgbClr val="00D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2450" y="2507903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0D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Nuxt.js (Vue)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552450" y="2738289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52450" y="2909739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Vue-based full-stack apps | Content-heavy websites | Hybrid static/dynamic rendering | Simpler than Next.js setup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52450" y="3252639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Upwork, Roland Garros, Ecosia, Line, Trivago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381000" y="3601194"/>
            <a:ext cx="4114800" cy="1131391"/>
          </a:xfrm>
          <a:prstGeom prst="roundRect">
            <a:avLst>
              <a:gd name="adj" fmla="val 6735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00050" y="3601194"/>
            <a:ext cx="0" cy="1131391"/>
          </a:xfrm>
          <a:prstGeom prst="line">
            <a:avLst/>
          </a:prstGeom>
          <a:noFill/>
          <a:ln w="38100">
            <a:solidFill>
              <a:srgbClr val="FF3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52450" y="3734544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3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SvelteKit (Svelte)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552450" y="3964930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52450" y="4136380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Svelte full-stack apps | Fastest possible performance | Edge deployment | Minimal JavaScript shipped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52450" y="4479280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Polka, Skeleton UI, Many indie/startup apps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4648200" y="1356420"/>
            <a:ext cx="4114800" cy="2373362"/>
          </a:xfrm>
          <a:prstGeom prst="roundRect">
            <a:avLst>
              <a:gd name="adj" fmla="val 321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81550" y="1489770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Rendering Strategies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81550" y="1725960"/>
            <a:ext cx="3848100" cy="424755"/>
          </a:xfrm>
          <a:prstGeom prst="roundRect">
            <a:avLst>
              <a:gd name="adj" fmla="val 897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76800" y="1802160"/>
            <a:ext cx="373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 (Server-Side Rendering)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876800" y="1954560"/>
            <a:ext cx="37307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content, SEO, personalization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4781550" y="2207865"/>
            <a:ext cx="3848100" cy="424755"/>
          </a:xfrm>
          <a:prstGeom prst="roundRect">
            <a:avLst>
              <a:gd name="adj" fmla="val 897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876800" y="2284065"/>
            <a:ext cx="373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SSG (Static Site Generation)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876800" y="2436465"/>
            <a:ext cx="37307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Blogs, docs, marketing pages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4781550" y="2689771"/>
            <a:ext cx="3848100" cy="424755"/>
          </a:xfrm>
          <a:prstGeom prst="roundRect">
            <a:avLst>
              <a:gd name="adj" fmla="val 897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876800" y="2765971"/>
            <a:ext cx="373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ISR (Incremental Static Regeneration)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876800" y="2918371"/>
            <a:ext cx="37307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E-commerce, news sites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4781550" y="3171676"/>
            <a:ext cx="3848100" cy="424755"/>
          </a:xfrm>
          <a:prstGeom prst="roundRect">
            <a:avLst>
              <a:gd name="adj" fmla="val 897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76800" y="3247876"/>
            <a:ext cx="373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39C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 (Client-Side Rendering)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876800" y="3400276"/>
            <a:ext cx="37307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Dashboards, internal tools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4648200" y="3825032"/>
            <a:ext cx="4114800" cy="699046"/>
          </a:xfrm>
          <a:prstGeom prst="roundRect">
            <a:avLst>
              <a:gd name="adj" fmla="val 10901"/>
            </a:avLst>
          </a:prstGeom>
          <a:solidFill>
            <a:srgbClr val="E8F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4667250" y="3825032"/>
            <a:ext cx="0" cy="699046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800600" y="3939332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Styling Solutions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4800600" y="4124027"/>
            <a:ext cx="39250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(utility-first) | CSS Modules (scoped) | Styled Components (CSS-in-JS) | Sass/SCSS (preprocessor)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LAYER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49257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Languages &amp; Frameworks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876746"/>
            <a:ext cx="4124325" cy="986582"/>
          </a:xfrm>
          <a:prstGeom prst="roundRect">
            <a:avLst>
              <a:gd name="adj" fmla="val 5793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876746"/>
            <a:ext cx="0" cy="986582"/>
          </a:xfrm>
          <a:prstGeom prst="line">
            <a:avLst/>
          </a:prstGeom>
          <a:noFill/>
          <a:ln w="38100">
            <a:solidFill>
              <a:srgbClr val="68A0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3400" y="991046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8A0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/ JavaScript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1189137"/>
            <a:ext cx="3934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33400" y="1351062"/>
            <a:ext cx="39347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apps (chat, streaming) | Same language frontend/backend | I/O heavy applications | Microservices | Startups needing speed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33400" y="1629073"/>
            <a:ext cx="39347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Frameworks: Express, NestJS, Fastify, Koa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81000" y="1930003"/>
            <a:ext cx="4124325" cy="986582"/>
          </a:xfrm>
          <a:prstGeom prst="roundRect">
            <a:avLst>
              <a:gd name="adj" fmla="val 5793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1930003"/>
            <a:ext cx="0" cy="986582"/>
          </a:xfrm>
          <a:prstGeom prst="line">
            <a:avLst/>
          </a:prstGeom>
          <a:noFill/>
          <a:ln w="381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3400" y="2044303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3400" y="2242393"/>
            <a:ext cx="3934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33400" y="2404318"/>
            <a:ext cx="39347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Learning/AI integration | Data processing | Rapid prototyping | Scientific computing | API-first services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533400" y="2682329"/>
            <a:ext cx="39347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Frameworks: FastAPI, Django, Flask, Starlette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81000" y="2983260"/>
            <a:ext cx="4124325" cy="986582"/>
          </a:xfrm>
          <a:prstGeom prst="roundRect">
            <a:avLst>
              <a:gd name="adj" fmla="val 5793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2983260"/>
            <a:ext cx="0" cy="986582"/>
          </a:xfrm>
          <a:prstGeom prst="line">
            <a:avLst/>
          </a:prstGeom>
          <a:noFill/>
          <a:ln w="38100">
            <a:solidFill>
              <a:srgbClr val="00A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3400" y="3097560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A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(Golang)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3400" y="3295650"/>
            <a:ext cx="3934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3400" y="3457575"/>
            <a:ext cx="39347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High-performance services | Concurrent processing | DevOps/CLI tools | Microservices at scale | Cloud infrastructure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33400" y="3735586"/>
            <a:ext cx="39347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Frameworks: Gin, Echo, Fiber, Chi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81000" y="4036516"/>
            <a:ext cx="4124325" cy="986582"/>
          </a:xfrm>
          <a:prstGeom prst="roundRect">
            <a:avLst>
              <a:gd name="adj" fmla="val 5793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00050" y="4036516"/>
            <a:ext cx="0" cy="986582"/>
          </a:xfrm>
          <a:prstGeom prst="line">
            <a:avLst/>
          </a:prstGeom>
          <a:noFill/>
          <a:ln w="38100">
            <a:solidFill>
              <a:srgbClr val="DEA5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3400" y="4150816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EA5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3400" y="4348907"/>
            <a:ext cx="3934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3400" y="4510832"/>
            <a:ext cx="39347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safety critical | Maximum performance | Systems programming | WebAssembly | Security-sensitive apps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533400" y="4788843"/>
            <a:ext cx="39347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Frameworks: Actix-web, Axum, Rocket, Warp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638675" y="1308050"/>
            <a:ext cx="4124325" cy="986582"/>
          </a:xfrm>
          <a:prstGeom prst="roundRect">
            <a:avLst>
              <a:gd name="adj" fmla="val 5793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57725" y="1308050"/>
            <a:ext cx="0" cy="986582"/>
          </a:xfrm>
          <a:prstGeom prst="line">
            <a:avLst/>
          </a:prstGeom>
          <a:noFill/>
          <a:ln w="38100">
            <a:solidFill>
              <a:srgbClr val="5382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91075" y="1422350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382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/ Kotlin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91075" y="1620441"/>
            <a:ext cx="3934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91075" y="1782366"/>
            <a:ext cx="39347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applications | Banking/Finance | Large teams | Android + Backend sharing | Legacy system integration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791075" y="2060377"/>
            <a:ext cx="39347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Frameworks: Spring Boot, Quarkus, Micronaut, Ktor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638675" y="2361307"/>
            <a:ext cx="4124325" cy="986582"/>
          </a:xfrm>
          <a:prstGeom prst="roundRect">
            <a:avLst>
              <a:gd name="adj" fmla="val 5793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57725" y="2361307"/>
            <a:ext cx="0" cy="986582"/>
          </a:xfrm>
          <a:prstGeom prst="line">
            <a:avLst/>
          </a:prstGeom>
          <a:noFill/>
          <a:ln w="38100">
            <a:solidFill>
              <a:srgbClr val="512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91075" y="2475607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12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/ .NET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91075" y="2673697"/>
            <a:ext cx="3934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91075" y="2835622"/>
            <a:ext cx="39347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ecosystem | Enterprise Windows apps | Game backends (Unity) | Cross-platform with .NET Core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791075" y="3113633"/>
            <a:ext cx="39347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Frameworks: ASP.NET Core, Blazor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638675" y="3414564"/>
            <a:ext cx="4124325" cy="653207"/>
          </a:xfrm>
          <a:prstGeom prst="roundRect">
            <a:avLst>
              <a:gd name="adj" fmla="val 8749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52975" y="3528864"/>
            <a:ext cx="3973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Patterns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4752975" y="3713559"/>
            <a:ext cx="39736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Monolith: Simple apps, small teams | Microservices: Scale, team autonomy | Serverless: Event-driven, variable load | Modular Monolith: Best of both worlds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4638675" y="4134445"/>
            <a:ext cx="4124325" cy="45720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33925" y="4229695"/>
            <a:ext cx="40125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Tip: Start with a modular monolith. Extract to microservices only when scale or team structure demands it.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1924a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336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13296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Databases: When to Use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967978"/>
            <a:ext cx="4114800" cy="1251347"/>
          </a:xfrm>
          <a:prstGeom prst="roundRect">
            <a:avLst>
              <a:gd name="adj" fmla="val 6089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967978"/>
            <a:ext cx="0" cy="1251347"/>
          </a:xfrm>
          <a:prstGeom prst="line">
            <a:avLst/>
          </a:prstGeom>
          <a:noFill/>
          <a:ln w="38100">
            <a:solidFill>
              <a:srgbClr val="3367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2450" y="1101328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336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52450" y="1331714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52450" y="1503164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queries needed | JSON + relational data | Geospatial data (PostGIS) | Full-text search | Advanced data types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52450" y="1827014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552450" y="1966020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Instagram, Spotify, Reddit, Uber, Twitch, Apple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381000" y="2314575"/>
            <a:ext cx="4114800" cy="1251347"/>
          </a:xfrm>
          <a:prstGeom prst="roundRect">
            <a:avLst>
              <a:gd name="adj" fmla="val 6089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314575"/>
            <a:ext cx="0" cy="1251347"/>
          </a:xfrm>
          <a:prstGeom prst="line">
            <a:avLst/>
          </a:prstGeom>
          <a:noFill/>
          <a:ln w="3810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52450" y="2447925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07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/ MariaDB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52450" y="2678311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52450" y="2849761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Read-heavy workloads | Web applications (LAMP stack) | CMS platforms | Simple relational data | Proven stability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52450" y="3173611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552450" y="3312616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Facebook, Twitter, YouTube, WordPress, Booking.com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381000" y="3661172"/>
            <a:ext cx="4114800" cy="1251347"/>
          </a:xfrm>
          <a:prstGeom prst="roundRect">
            <a:avLst>
              <a:gd name="adj" fmla="val 6089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00050" y="3661172"/>
            <a:ext cx="0" cy="1251347"/>
          </a:xfrm>
          <a:prstGeom prst="line">
            <a:avLst/>
          </a:prstGeom>
          <a:noFill/>
          <a:ln w="38100">
            <a:solidFill>
              <a:srgbClr val="47A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2450" y="3794522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47A3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552450" y="4024908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52450" y="4196358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applications | Mobile apps | Desktop software | Prototyping | Edge computing | Single-user apps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52450" y="4520208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552450" y="4659213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iPhone/Android app, Browsers, Skype, Adobe apps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4648200" y="1289745"/>
            <a:ext cx="4114800" cy="1891457"/>
          </a:xfrm>
          <a:prstGeom prst="roundRect">
            <a:avLst>
              <a:gd name="adj" fmla="val 402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81550" y="1423095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Database Decision Matrix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81550" y="1659285"/>
            <a:ext cx="3848100" cy="424755"/>
          </a:xfrm>
          <a:prstGeom prst="roundRect">
            <a:avLst>
              <a:gd name="adj" fmla="val 8970"/>
            </a:avLst>
          </a:prstGeom>
          <a:solidFill>
            <a:srgbClr val="33679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876800" y="1735485"/>
            <a:ext cx="373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876800" y="1887885"/>
            <a:ext cx="37307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queries, JSONB, extensions, analytics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4781550" y="2141190"/>
            <a:ext cx="3848100" cy="424755"/>
          </a:xfrm>
          <a:prstGeom prst="roundRect">
            <a:avLst>
              <a:gd name="adj" fmla="val 8970"/>
            </a:avLst>
          </a:prstGeom>
          <a:solidFill>
            <a:srgbClr val="0075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876800" y="2217390"/>
            <a:ext cx="373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876800" y="2369790"/>
            <a:ext cx="37307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Read-heavy, web apps, replication, mature ecosystem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4781550" y="2623096"/>
            <a:ext cx="3848100" cy="424755"/>
          </a:xfrm>
          <a:prstGeom prst="roundRect">
            <a:avLst>
              <a:gd name="adj" fmla="val 8970"/>
            </a:avLst>
          </a:prstGeom>
          <a:solidFill>
            <a:srgbClr val="47A3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76800" y="2699296"/>
            <a:ext cx="373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876800" y="2851696"/>
            <a:ext cx="37307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Embedded, serverless, single-file, zero config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4648200" y="3276451"/>
            <a:ext cx="4114800" cy="699046"/>
          </a:xfrm>
          <a:prstGeom prst="roundRect">
            <a:avLst>
              <a:gd name="adj" fmla="val 10901"/>
            </a:avLst>
          </a:prstGeom>
          <a:solidFill>
            <a:srgbClr val="E8F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4667250" y="3276451"/>
            <a:ext cx="0" cy="699046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800600" y="339075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Managed Options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4800600" y="3575447"/>
            <a:ext cx="39250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RDS | Google Cloud SQL | Azure SQL | PlanetScale | Supabase | Neon | CockroachDB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4648200" y="4070747"/>
            <a:ext cx="4114800" cy="520005"/>
          </a:xfrm>
          <a:prstGeom prst="roundRect">
            <a:avLst>
              <a:gd name="adj" fmla="val 1099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762500" y="4185047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Choose SQL: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4762500" y="4356497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ACID compliance needed | Complex joins | Structured data | Data integrity critical | Reporting/analytics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3AA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4469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NoSQL Databases: When to Use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898624"/>
            <a:ext cx="4114800" cy="986582"/>
          </a:xfrm>
          <a:prstGeom prst="roundRect">
            <a:avLst>
              <a:gd name="adj" fmla="val 5793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898624"/>
            <a:ext cx="0" cy="986582"/>
          </a:xfrm>
          <a:prstGeom prst="line">
            <a:avLst/>
          </a:prstGeom>
          <a:noFill/>
          <a:ln w="3810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3400" y="1012924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3AA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(Document)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1211014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33400" y="1372939"/>
            <a:ext cx="39250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schema needed | Rapid iteration | Content management | Catalog data | Real-time analytics | IoT data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33400" y="1650950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eBay, Adobe, Forbes, Toyota, Cisco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81000" y="1970931"/>
            <a:ext cx="4114800" cy="986582"/>
          </a:xfrm>
          <a:prstGeom prst="roundRect">
            <a:avLst>
              <a:gd name="adj" fmla="val 5793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1970931"/>
            <a:ext cx="0" cy="986582"/>
          </a:xfrm>
          <a:prstGeom prst="line">
            <a:avLst/>
          </a:prstGeom>
          <a:noFill/>
          <a:ln w="38100">
            <a:solidFill>
              <a:srgbClr val="DC3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3400" y="2085231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C38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(Key-Value)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3400" y="2283321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33400" y="2445246"/>
            <a:ext cx="39250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Caching layer | Session storage | Real-time leaderboards | Pub/Sub messaging | Rate limiting | Queues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533400" y="2723257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Twitter, GitHub, Pinterest, Snapchat, Stack Overflow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81000" y="3043238"/>
            <a:ext cx="4114800" cy="986582"/>
          </a:xfrm>
          <a:prstGeom prst="roundRect">
            <a:avLst>
              <a:gd name="adj" fmla="val 5793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043238"/>
            <a:ext cx="0" cy="986582"/>
          </a:xfrm>
          <a:prstGeom prst="line">
            <a:avLst/>
          </a:prstGeom>
          <a:noFill/>
          <a:ln w="38100">
            <a:solidFill>
              <a:srgbClr val="1287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3400" y="3157538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287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Cassandra (Wide-Column)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3400" y="3355628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3400" y="3517553"/>
            <a:ext cx="39250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Write-heavy workloads | Time-series data | Geographic distribution | Massive scale | High availability required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33400" y="3795564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Netflix, Instagram, Uber, Apple, Discord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81000" y="4115544"/>
            <a:ext cx="4114800" cy="866626"/>
          </a:xfrm>
          <a:prstGeom prst="roundRect">
            <a:avLst>
              <a:gd name="adj" fmla="val 6595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00050" y="4115544"/>
            <a:ext cx="0" cy="866626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3400" y="4229844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DynamoDB (Key-Value/Document)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3400" y="4427934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3400" y="4589859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ecosystem | Serverless apps | Predictable performance | Auto-scaling | Gaming leaderboards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533400" y="4747915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Amazon, Lyft, Samsung, Capital One, Nike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648200" y="1415504"/>
            <a:ext cx="4114800" cy="866626"/>
          </a:xfrm>
          <a:prstGeom prst="roundRect">
            <a:avLst>
              <a:gd name="adj" fmla="val 6595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67250" y="1415504"/>
            <a:ext cx="0" cy="866626"/>
          </a:xfrm>
          <a:prstGeom prst="line">
            <a:avLst/>
          </a:prstGeom>
          <a:noFill/>
          <a:ln w="38100">
            <a:solidFill>
              <a:srgbClr val="018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1529804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18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 (Graph)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1727895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00600" y="1889820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networks | Recommendation engines | Fraud detection | Knowledge graphs | Network analysis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800600" y="2047875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LinkedIn, NASA, Walmart, eBay, Airbnb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648200" y="2367855"/>
            <a:ext cx="4114800" cy="866626"/>
          </a:xfrm>
          <a:prstGeom prst="roundRect">
            <a:avLst>
              <a:gd name="adj" fmla="val 6595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67250" y="2367855"/>
            <a:ext cx="0" cy="866626"/>
          </a:xfrm>
          <a:prstGeom prst="line">
            <a:avLst/>
          </a:prstGeom>
          <a:noFill/>
          <a:ln w="38100">
            <a:solidFill>
              <a:srgbClr val="F0D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2482155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0D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Elasticsearch (Search)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2680246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00600" y="2842171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Full-text search | Log analytics | Application monitoring | Auto-complete | Faceted search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800600" y="3000226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Netflix, Uber, Wikipedia, Slack, Tinder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648200" y="3320207"/>
            <a:ext cx="4114800" cy="601861"/>
          </a:xfrm>
          <a:prstGeom prst="roundRect">
            <a:avLst>
              <a:gd name="adj" fmla="val 9496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43450" y="3415457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NoSQL Decision Guide: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43450" y="3586907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schema = MongoDB | Caching = Redis | Scale = Cassandra/DynamoDB | Relationships = Neo4j | Search = Elasticsearch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4648200" y="4007793"/>
            <a:ext cx="4114800" cy="45720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43450" y="4103043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Trending: Vector Databases (Pinecone, Weaviate, Milvus) for AI/ML embedding storage and similarity search.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1056b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PIPELINE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13296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&amp; CI/CD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271266" y="965746"/>
            <a:ext cx="642938" cy="337096"/>
          </a:xfrm>
          <a:prstGeom prst="roundRect">
            <a:avLst>
              <a:gd name="adj" fmla="val 1695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461766" y="1060996"/>
            <a:ext cx="2671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2990404" y="1027658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19004" y="965746"/>
            <a:ext cx="642938" cy="337096"/>
          </a:xfrm>
          <a:prstGeom prst="roundRect">
            <a:avLst>
              <a:gd name="adj" fmla="val 1695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409504" y="1060996"/>
            <a:ext cx="2671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938141" y="1027658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66741" y="965746"/>
            <a:ext cx="588764" cy="337096"/>
          </a:xfrm>
          <a:prstGeom prst="roundRect">
            <a:avLst>
              <a:gd name="adj" fmla="val 1695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357241" y="1060996"/>
            <a:ext cx="2119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831705" y="1027658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60305" y="965746"/>
            <a:ext cx="777180" cy="337096"/>
          </a:xfrm>
          <a:prstGeom prst="roundRect">
            <a:avLst>
              <a:gd name="adj" fmla="val 1695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50805" y="1060996"/>
            <a:ext cx="4041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913686" y="1027658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42286" y="965746"/>
            <a:ext cx="730448" cy="337096"/>
          </a:xfrm>
          <a:prstGeom prst="roundRect">
            <a:avLst>
              <a:gd name="adj" fmla="val 16954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332786" y="1060996"/>
            <a:ext cx="3564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81000" y="2264122"/>
            <a:ext cx="4114800" cy="1028551"/>
          </a:xfrm>
          <a:prstGeom prst="roundRect">
            <a:avLst>
              <a:gd name="adj" fmla="val 7408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14350" y="2397472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Platforms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14350" y="2633663"/>
            <a:ext cx="757535" cy="234255"/>
          </a:xfrm>
          <a:prstGeom prst="roundRect">
            <a:avLst>
              <a:gd name="adj" fmla="val 1626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09600" y="2690813"/>
            <a:ext cx="578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1348085" y="2633663"/>
            <a:ext cx="552748" cy="234255"/>
          </a:xfrm>
          <a:prstGeom prst="roundRect">
            <a:avLst>
              <a:gd name="adj" fmla="val 1626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443335" y="2690813"/>
            <a:ext cx="369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 CI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1977033" y="2633663"/>
            <a:ext cx="481161" cy="234255"/>
          </a:xfrm>
          <a:prstGeom prst="roundRect">
            <a:avLst>
              <a:gd name="adj" fmla="val 1626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072283" y="2690813"/>
            <a:ext cx="2964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Jenkins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514350" y="2925068"/>
            <a:ext cx="495449" cy="234255"/>
          </a:xfrm>
          <a:prstGeom prst="roundRect">
            <a:avLst>
              <a:gd name="adj" fmla="val 1626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09600" y="2982218"/>
            <a:ext cx="3110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CircleCI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1085999" y="2925068"/>
            <a:ext cx="748010" cy="234255"/>
          </a:xfrm>
          <a:prstGeom prst="roundRect">
            <a:avLst>
              <a:gd name="adj" fmla="val 1626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181249" y="2982218"/>
            <a:ext cx="5686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1910209" y="2925068"/>
            <a:ext cx="916484" cy="234255"/>
          </a:xfrm>
          <a:prstGeom prst="roundRect">
            <a:avLst>
              <a:gd name="adj" fmla="val 1626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005459" y="2982218"/>
            <a:ext cx="7405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CodePipeline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381000" y="3387923"/>
            <a:ext cx="4114800" cy="679996"/>
          </a:xfrm>
          <a:prstGeom prst="roundRect">
            <a:avLst>
              <a:gd name="adj" fmla="val 11206"/>
            </a:avLst>
          </a:prstGeom>
          <a:solidFill>
            <a:srgbClr val="E8F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400050" y="3387923"/>
            <a:ext cx="0" cy="679996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33400" y="350222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Containerization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533400" y="3686919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Docker: Container images | Kubernetes: Orchestration | Helm: Package management | Podman: Rootless containers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648200" y="2357289"/>
            <a:ext cx="4114800" cy="1179165"/>
          </a:xfrm>
          <a:prstGeom prst="roundRect">
            <a:avLst>
              <a:gd name="adj" fmla="val 646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781550" y="2490639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as Code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781550" y="2726829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Terraform:</a:t>
            </a: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Multi-cloud provisioning, state management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781550" y="2907804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Pulumi:</a:t>
            </a: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Code-first IaC using Python/JS/Go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4781550" y="3088779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Ansible:</a:t>
            </a: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Configuration management, automation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4781550" y="3269754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CloudFormation:</a:t>
            </a: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AWS-native infrastructure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4648200" y="3631704"/>
            <a:ext cx="4114800" cy="342900"/>
          </a:xfrm>
          <a:prstGeom prst="roundRect">
            <a:avLst>
              <a:gd name="adj" fmla="val 16667"/>
            </a:avLst>
          </a:prstGeom>
          <a:solidFill>
            <a:srgbClr val="FFF5F5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4752975" y="3736479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DORA Metrics:</a:t>
            </a:r>
            <a:r>
              <a:rPr lang="en-US" sz="750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Deployment frequency | Lead time | MTTR | Change failure rate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9402a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49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CONTAINERIZATION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13296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Docker: What, Why &amp; When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746945"/>
            <a:ext cx="4114800" cy="1621036"/>
          </a:xfrm>
          <a:prstGeom prst="roundRect">
            <a:avLst>
              <a:gd name="adj" fmla="val 4701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14350" y="1880295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49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Docker?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514350" y="2129730"/>
            <a:ext cx="39250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packages applications with all dependencies into standardized units called </a:t>
            </a: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containers</a:t>
            </a: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Containers run the same everywhere - your laptop, server, or cloud.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14350" y="2491680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Concepts: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14350" y="2663130"/>
            <a:ext cx="392506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Blueprint/template (like a class)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514350" y="2810768"/>
            <a:ext cx="392506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Running instance of image (like an object)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514350" y="2958405"/>
            <a:ext cx="392506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Instructions to build an image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514350" y="3106043"/>
            <a:ext cx="392506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Storage for images (Docker Hub)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81000" y="3463230"/>
            <a:ext cx="4114800" cy="670471"/>
          </a:xfrm>
          <a:prstGeom prst="roundRect">
            <a:avLst>
              <a:gd name="adj" fmla="val 11365"/>
            </a:avLst>
          </a:prstGeom>
          <a:solidFill>
            <a:srgbClr val="E8F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3463230"/>
            <a:ext cx="0" cy="670471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3400" y="357753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vs Virtual Machines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33400" y="3762226"/>
            <a:ext cx="392506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VMs virtualize hardware (heavy, slow startup). Docker virtualizes OS (lightweight, instant startup). Containers share host OS kernel.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4648200" y="1721346"/>
            <a:ext cx="4114800" cy="1460748"/>
          </a:xfrm>
          <a:prstGeom prst="roundRect">
            <a:avLst>
              <a:gd name="adj" fmla="val 521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81550" y="1854696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 Docker?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81550" y="2090886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"Works on my machine" problems - consistent environments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781550" y="2258467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Microservices architecture - isolate each service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781550" y="2426047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CI/CD pipelines - reproducible builds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4781550" y="2593628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Development environments - onboard devs faster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4781550" y="2761208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Cloud deployments - AWS ECS, GCP Cloud Run, Azure ACI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4781550" y="2928789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Scaling applications - Kubernetes orchestration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648200" y="3277344"/>
            <a:ext cx="4114800" cy="47625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52975" y="3382119"/>
            <a:ext cx="3983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Benefits:</a:t>
            </a:r>
            <a:r>
              <a:rPr lang="en-US" sz="750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Portability | Isolation | Reproducibility | Fast deployment | Resource efficiency | Version control for infrastructure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648200" y="3848844"/>
            <a:ext cx="4114800" cy="310455"/>
          </a:xfrm>
          <a:prstGeom prst="roundRect">
            <a:avLst>
              <a:gd name="adj" fmla="val 18408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43450" y="3944094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Uses Docker? Netflix, Spotify, PayPal, Uber, Airbnb, and millions of developers worldwide.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49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CODE EXAMPLE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Dockerfile: Node.js Application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1136749"/>
            <a:ext cx="4937820" cy="2612827"/>
          </a:xfrm>
          <a:prstGeom prst="roundRect">
            <a:avLst>
              <a:gd name="adj" fmla="val 2916"/>
            </a:avLst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825" y="1260574"/>
            <a:ext cx="4783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569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4825" y="1470124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official Node.js image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504825" y="1609130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node:20-alpine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504825" y="1786235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working directory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04825" y="1925241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/app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504825" y="2102346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package files first (caching)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04825" y="2241352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package*.json ./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04825" y="2418457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dependencies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504825" y="2557463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npm ci --only=production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04825" y="2734568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source code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504825" y="2873573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.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04825" y="3050679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Expose port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04825" y="3189684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3000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04825" y="3366790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the application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04825" y="3505795"/>
            <a:ext cx="47839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</a:t>
            </a:r>
            <a:r>
              <a:rPr lang="en-US" sz="675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"node"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675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"server.js"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81000" y="3825776"/>
            <a:ext cx="4937820" cy="917972"/>
          </a:xfrm>
          <a:prstGeom prst="roundRect">
            <a:avLst>
              <a:gd name="adj" fmla="val 6226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6250" y="3921026"/>
            <a:ext cx="48422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Docker Commands: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6250" y="4111526"/>
            <a:ext cx="48422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-t myapp:1.0 .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76250" y="4250531"/>
            <a:ext cx="48422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-p 3000:3000 myapp:1.0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76250" y="4389537"/>
            <a:ext cx="48422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675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running containers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76250" y="4528542"/>
            <a:ext cx="48422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container_id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5471220" y="1861542"/>
            <a:ext cx="3291780" cy="1519684"/>
          </a:xfrm>
          <a:prstGeom prst="roundRect">
            <a:avLst>
              <a:gd name="adj" fmla="val 501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85520" y="1975842"/>
            <a:ext cx="31244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 Instructions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585520" y="2198638"/>
            <a:ext cx="31244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69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Base image to start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585520" y="2356693"/>
            <a:ext cx="31244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69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WORKDIR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Set working directory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5585520" y="2514749"/>
            <a:ext cx="31244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69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Copy files into image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5585520" y="2672804"/>
            <a:ext cx="31244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69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Execute commands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5585520" y="2830860"/>
            <a:ext cx="31244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69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Set environment vars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5585520" y="2988915"/>
            <a:ext cx="31244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69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EXPOSE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Document port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5585520" y="3146971"/>
            <a:ext cx="31244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69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CMD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Default command to run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5471220" y="3457426"/>
            <a:ext cx="3291780" cy="561677"/>
          </a:xfrm>
          <a:prstGeom prst="roundRect">
            <a:avLst>
              <a:gd name="adj" fmla="val 10175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566470" y="3552676"/>
            <a:ext cx="3163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Practices: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5566470" y="3710732"/>
            <a:ext cx="3163306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alpine images (smaller) | Multi-stage builds | Layer caching | Non-root user | .dockerignore file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7db6c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496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MULTI-CONTAINER SETUP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13296"/>
            <a:ext cx="48868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Compose: Full Stack Example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81000" y="1284387"/>
            <a:ext cx="5349180" cy="3311723"/>
          </a:xfrm>
          <a:prstGeom prst="roundRect">
            <a:avLst>
              <a:gd name="adj" fmla="val 2301"/>
            </a:avLst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04825" y="1408212"/>
            <a:ext cx="52035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569C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docker-compose.yml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4825" y="1598712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6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'3.8'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504825" y="1743373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504825" y="1868984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Frontend React App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04825" y="1975545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504825" y="2082105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./frontend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04825" y="2188666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6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"3000:3000"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04825" y="2295227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[api]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04825" y="2439888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 API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04825" y="2546449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4825" y="2653010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./backend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504825" y="2759571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6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"5000:5000"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04825" y="2866132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04825" y="2972693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=postgres://db:5432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504825" y="3079254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[db, redis]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04825" y="3223915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PostgreSQL Database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04825" y="3330476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04825" y="3437037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postgres:15-alpine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04825" y="3543598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[pgdata:/var/lib/postgresql/data]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504825" y="3650159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504825" y="3756720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POSTGRES_PASSWORD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=secret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04825" y="3901380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Redis Cache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504825" y="4007941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04825" y="4114502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redis:7-alpine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04825" y="4259163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04825" y="4365724"/>
            <a:ext cx="52035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pgdata</a:t>
            </a:r>
            <a:r>
              <a:rPr lang="en-US" sz="6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5882580" y="1724471"/>
            <a:ext cx="2880420" cy="1439466"/>
          </a:xfrm>
          <a:prstGeom prst="roundRect">
            <a:avLst>
              <a:gd name="adj" fmla="val 529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996880" y="1838771"/>
            <a:ext cx="27048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Commands: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996880" y="2029271"/>
            <a:ext cx="27048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5996880" y="2149227"/>
            <a:ext cx="27048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all services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5996880" y="2293888"/>
            <a:ext cx="27048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down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5996880" y="2413843"/>
            <a:ext cx="27048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Stop all services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5996880" y="2558504"/>
            <a:ext cx="27048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logs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-f api</a:t>
            </a:r>
            <a:endParaRPr lang="en-US" sz="675" dirty="0"/>
          </a:p>
        </p:txBody>
      </p:sp>
      <p:sp>
        <p:nvSpPr>
          <p:cNvPr id="39" name="Text 36"/>
          <p:cNvSpPr/>
          <p:nvPr/>
        </p:nvSpPr>
        <p:spPr>
          <a:xfrm>
            <a:off x="5996880" y="2678460"/>
            <a:ext cx="27048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 logs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5996880" y="2823121"/>
            <a:ext cx="27048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exec</a:t>
            </a:r>
            <a:r>
              <a:rPr lang="en-US" sz="675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 sh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5996880" y="2943076"/>
            <a:ext cx="27048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Shell into container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5882580" y="3240137"/>
            <a:ext cx="2880420" cy="561677"/>
          </a:xfrm>
          <a:prstGeom prst="roundRect">
            <a:avLst>
              <a:gd name="adj" fmla="val 10175"/>
            </a:avLst>
          </a:prstGeom>
          <a:solidFill>
            <a:srgbClr val="E8F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5901630" y="3240137"/>
            <a:ext cx="0" cy="561677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015930" y="3335387"/>
            <a:ext cx="27048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example creates:</a:t>
            </a:r>
            <a:endParaRPr lang="en-US" sz="675" dirty="0"/>
          </a:p>
        </p:txBody>
      </p:sp>
      <p:sp>
        <p:nvSpPr>
          <p:cNvPr id="45" name="Text 42"/>
          <p:cNvSpPr/>
          <p:nvPr/>
        </p:nvSpPr>
        <p:spPr>
          <a:xfrm>
            <a:off x="6015930" y="3493443"/>
            <a:ext cx="2704856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frontend + Node API + PostgreSQL + Redis with networking and data persistence</a:t>
            </a:r>
            <a:endParaRPr lang="en-US" sz="600" dirty="0"/>
          </a:p>
        </p:txBody>
      </p:sp>
      <p:sp>
        <p:nvSpPr>
          <p:cNvPr id="46" name="Text 43"/>
          <p:cNvSpPr/>
          <p:nvPr/>
        </p:nvSpPr>
        <p:spPr>
          <a:xfrm>
            <a:off x="5882580" y="3878014"/>
            <a:ext cx="2880420" cy="278011"/>
          </a:xfrm>
          <a:prstGeom prst="roundRect">
            <a:avLst>
              <a:gd name="adj" fmla="val 20557"/>
            </a:avLst>
          </a:prstGeom>
          <a:solidFill>
            <a:srgbClr val="FFF5F5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5968305" y="3963739"/>
            <a:ext cx="276314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Tip:</a:t>
            </a:r>
            <a:r>
              <a:rPr lang="en-US" sz="600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 .env files for secrets. Never commit passwords to git!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Platforms &amp; Services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1587252"/>
            <a:ext cx="41970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MAJOR PROVIDERS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1829098"/>
            <a:ext cx="4114800" cy="837902"/>
          </a:xfrm>
          <a:prstGeom prst="roundRect">
            <a:avLst>
              <a:gd name="adj" fmla="val 9094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829098"/>
            <a:ext cx="0" cy="837902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3400" y="1943398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Web Services (AWS)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33400" y="2154734"/>
            <a:ext cx="39250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EC2 (compute) | Lambda (serverless) | S3 (storage) | RDS (database) | DynamoDB | EKS (Kubernetes) | CloudFront (CDN)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33400" y="2432745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for: Largest ecosystem, enterprise, most services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81000" y="2762250"/>
            <a:ext cx="4114800" cy="717947"/>
          </a:xfrm>
          <a:prstGeom prst="roundRect">
            <a:avLst>
              <a:gd name="adj" fmla="val 10614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762250"/>
            <a:ext cx="0" cy="717947"/>
          </a:xfrm>
          <a:prstGeom prst="line">
            <a:avLst/>
          </a:prstGeom>
          <a:noFill/>
          <a:ln w="381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3400" y="2876550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4285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Cloud Platform (GCP)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33400" y="3087886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Engine | Cloud Run | GKE | BigQuery | Firestore | Cloud Functions | Vertex AI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33400" y="3245941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for: ML/AI, analytics, Kubernetes, data engineering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81000" y="3575447"/>
            <a:ext cx="4114800" cy="717947"/>
          </a:xfrm>
          <a:prstGeom prst="roundRect">
            <a:avLst>
              <a:gd name="adj" fmla="val 10614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575447"/>
            <a:ext cx="0" cy="717947"/>
          </a:xfrm>
          <a:prstGeom prst="line">
            <a:avLst/>
          </a:prstGeom>
          <a:noFill/>
          <a:ln w="3810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3400" y="3689747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A4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Azure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33400" y="3901083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Service | Functions | AKS | Cosmos DB | Azure SQL | Blob Storage | Azure OpenAI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33400" y="4059138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for: Microsoft stack, enterprise, hybrid cloud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648200" y="1832818"/>
            <a:ext cx="41970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PLATFORMS (PAAS)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48200" y="2074664"/>
            <a:ext cx="4114800" cy="1237952"/>
          </a:xfrm>
          <a:prstGeom prst="roundRect">
            <a:avLst>
              <a:gd name="adj" fmla="val 6155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2500" y="2188964"/>
            <a:ext cx="1257300" cy="476101"/>
          </a:xfrm>
          <a:prstGeom prst="roundRect">
            <a:avLst>
              <a:gd name="adj" fmla="val 1200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57750" y="2284214"/>
            <a:ext cx="10881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57750" y="2449860"/>
            <a:ext cx="10881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Next.js, frontend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6076950" y="2188964"/>
            <a:ext cx="1257300" cy="476101"/>
          </a:xfrm>
          <a:prstGeom prst="roundRect">
            <a:avLst>
              <a:gd name="adj" fmla="val 1200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72200" y="2284214"/>
            <a:ext cx="10881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172200" y="2449860"/>
            <a:ext cx="10881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JAMstack, static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7391400" y="2188964"/>
            <a:ext cx="1257300" cy="476101"/>
          </a:xfrm>
          <a:prstGeom prst="roundRect">
            <a:avLst>
              <a:gd name="adj" fmla="val 1200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486650" y="2284214"/>
            <a:ext cx="10881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Railway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7486650" y="2449860"/>
            <a:ext cx="10881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apps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762500" y="2722215"/>
            <a:ext cx="1257300" cy="476101"/>
          </a:xfrm>
          <a:prstGeom prst="roundRect">
            <a:avLst>
              <a:gd name="adj" fmla="val 1200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57750" y="2817465"/>
            <a:ext cx="10881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Fly.io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57750" y="2983111"/>
            <a:ext cx="10881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deployment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076950" y="2722215"/>
            <a:ext cx="1257300" cy="476101"/>
          </a:xfrm>
          <a:prstGeom prst="roundRect">
            <a:avLst>
              <a:gd name="adj" fmla="val 1200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72200" y="2817465"/>
            <a:ext cx="10881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172200" y="2983111"/>
            <a:ext cx="10881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Heroku alternative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7391400" y="2722215"/>
            <a:ext cx="1257300" cy="476101"/>
          </a:xfrm>
          <a:prstGeom prst="roundRect">
            <a:avLst>
              <a:gd name="adj" fmla="val 1200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486650" y="2817465"/>
            <a:ext cx="10881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7486650" y="2983111"/>
            <a:ext cx="10881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CDN, Workers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648200" y="3407866"/>
            <a:ext cx="4114800" cy="639961"/>
          </a:xfrm>
          <a:prstGeom prst="roundRect">
            <a:avLst>
              <a:gd name="adj" fmla="val 893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62500" y="3522166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Optimization Tips: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62500" y="3693616"/>
            <a:ext cx="396392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reserved instances for predictable workloads | Spot instances for batch jobs | Auto-scaling for variable loads | Monitor with AWS Cost Explorer or similar</a:t>
            </a:r>
            <a:endParaRPr lang="en-US" sz="6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9e159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FOCUS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13296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Best Practices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706017"/>
            <a:ext cx="4114800" cy="1434257"/>
          </a:xfrm>
          <a:prstGeom prst="roundRect">
            <a:avLst>
              <a:gd name="adj" fmla="val 5313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14350" y="1839367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&amp; Authorization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14350" y="2075557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2.0 / OIDC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14350" y="2227957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spcAft>
                <a:spcPts val="450"/>
              </a:spcAft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Third-party auth (Google, GitHub)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514350" y="2405063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Tokens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14350" y="2557463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spcAft>
                <a:spcPts val="450"/>
              </a:spcAft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Stateless, proper expiration, refresh tokens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514350" y="2734568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MFA + RBAC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14350" y="2886968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Multi-factor auth, role-based access control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81000" y="3235523"/>
            <a:ext cx="4114800" cy="938957"/>
          </a:xfrm>
          <a:prstGeom prst="roundRect">
            <a:avLst>
              <a:gd name="adj" fmla="val 811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14350" y="3368873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Protection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14350" y="3605064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Encryption: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TLS 1.3 in transit, AES-256 at rest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514350" y="3763119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bcrypt or Argon2 hashing, never MD5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514350" y="3921175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Vault, AWS Secrets Manager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4648200" y="1767036"/>
            <a:ext cx="4114800" cy="988368"/>
          </a:xfrm>
          <a:prstGeom prst="roundRect">
            <a:avLst>
              <a:gd name="adj" fmla="val 7710"/>
            </a:avLst>
          </a:prstGeom>
          <a:solidFill>
            <a:srgbClr val="FFF5F5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781550" y="1900386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Top 10 Defenses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781550" y="2123182"/>
            <a:ext cx="607070" cy="220861"/>
          </a:xfrm>
          <a:prstGeom prst="roundRect">
            <a:avLst>
              <a:gd name="adj" fmla="val 17251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857750" y="2180332"/>
            <a:ext cx="46376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Injection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445770" y="2123182"/>
            <a:ext cx="669131" cy="220861"/>
          </a:xfrm>
          <a:prstGeom prst="roundRect">
            <a:avLst>
              <a:gd name="adj" fmla="val 17251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521970" y="2180332"/>
            <a:ext cx="5270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 Protection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172051" y="2123182"/>
            <a:ext cx="621060" cy="220861"/>
          </a:xfrm>
          <a:prstGeom prst="roundRect">
            <a:avLst>
              <a:gd name="adj" fmla="val 17251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248251" y="2180332"/>
            <a:ext cx="47803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CSRF Tokens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4781550" y="2401193"/>
            <a:ext cx="736848" cy="220861"/>
          </a:xfrm>
          <a:prstGeom prst="roundRect">
            <a:avLst>
              <a:gd name="adj" fmla="val 17251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857750" y="2458343"/>
            <a:ext cx="59613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Headers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5575547" y="2401193"/>
            <a:ext cx="765867" cy="220861"/>
          </a:xfrm>
          <a:prstGeom prst="roundRect">
            <a:avLst>
              <a:gd name="adj" fmla="val 17251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651747" y="2458343"/>
            <a:ext cx="5965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Validation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6415843" y="2388131"/>
            <a:ext cx="567630" cy="220861"/>
          </a:xfrm>
          <a:prstGeom prst="roundRect">
            <a:avLst>
              <a:gd name="adj" fmla="val 17251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485510" y="2445281"/>
            <a:ext cx="42353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Broken Auth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4648200" y="2850654"/>
            <a:ext cx="4114800" cy="672257"/>
          </a:xfrm>
          <a:prstGeom prst="roundRect">
            <a:avLst>
              <a:gd name="adj" fmla="val 11335"/>
            </a:avLst>
          </a:prstGeom>
          <a:solidFill>
            <a:srgbClr val="E8F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4667250" y="2850654"/>
            <a:ext cx="0" cy="672257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800600" y="2964954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Tools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4800600" y="3149650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SAST: SonarQube, Semgrep | DAST: OWASP ZAP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4800600" y="3288655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Dependencies: Snyk, Dependabot | WAF: Cloudflare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4648200" y="3618161"/>
            <a:ext cx="4114800" cy="495300"/>
          </a:xfrm>
          <a:prstGeom prst="roundRect">
            <a:avLst>
              <a:gd name="adj" fmla="val 15385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762500" y="3732461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Shift-Left Security: Integrate security testing in CI/CD from day one. Security is not an afterthought.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LAYER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50423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Design: When to Use Each Style</a:t>
            </a:r>
            <a:endParaRPr lang="en-US" sz="2250" dirty="0"/>
          </a:p>
        </p:txBody>
      </p:sp>
      <p:pic>
        <p:nvPicPr>
          <p:cNvPr id="4" name="Image 0" descr="/tmp/rasterized-gradient-ad56e9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26195"/>
            <a:ext cx="4114800" cy="10855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4350" y="1359545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514350" y="1589931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14350" y="1761381"/>
            <a:ext cx="39250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 operations | Public APIs | Caching important | Simple request/response | Stateless operations | Wide client support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514350" y="2058442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162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Stripe, Twilio, GitHub API, Twitter API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381000" y="2397472"/>
            <a:ext cx="4114800" cy="1085552"/>
          </a:xfrm>
          <a:prstGeom prst="roundRect">
            <a:avLst>
              <a:gd name="adj" fmla="val 7019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397472"/>
            <a:ext cx="0" cy="1085552"/>
          </a:xfrm>
          <a:prstGeom prst="line">
            <a:avLst/>
          </a:prstGeom>
          <a:noFill/>
          <a:ln w="38100">
            <a:solidFill>
              <a:srgbClr val="E535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52450" y="2530822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E53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GraphQL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52450" y="2761208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52450" y="2932658"/>
            <a:ext cx="38862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nested data | Multiple resources in one call | Mobile apps (bandwidth) | Rapid frontend iteration | Flexible queries needed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552450" y="3229719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GitHub, Shopify, Facebook, Airbnb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381000" y="3568750"/>
            <a:ext cx="4114800" cy="1085552"/>
          </a:xfrm>
          <a:prstGeom prst="roundRect">
            <a:avLst>
              <a:gd name="adj" fmla="val 7019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00050" y="3568750"/>
            <a:ext cx="0" cy="1085552"/>
          </a:xfrm>
          <a:prstGeom prst="line">
            <a:avLst/>
          </a:prstGeom>
          <a:noFill/>
          <a:ln w="38100">
            <a:solidFill>
              <a:srgbClr val="244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2450" y="3702100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4DC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gRPC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552450" y="3932486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52450" y="4103936"/>
            <a:ext cx="38862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Microservices communication | High performance needed | Bi-directional streaming | Strong typing (Protobuf) | Internal services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552450" y="4400996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Netflix, Uber, Square, Dropbox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648200" y="1573857"/>
            <a:ext cx="4114800" cy="1085552"/>
          </a:xfrm>
          <a:prstGeom prst="roundRect">
            <a:avLst>
              <a:gd name="adj" fmla="val 7019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667250" y="1573857"/>
            <a:ext cx="0" cy="1085552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19650" y="1707207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4819650" y="1937593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USE: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819650" y="2109043"/>
            <a:ext cx="38862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updates | Chat applications | Live notifications | Collaborative editing | Gaming | Live dashboards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4819650" y="2406104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Slack, Discord, Figma, Trading platforms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4648200" y="2745135"/>
            <a:ext cx="4114800" cy="1045518"/>
          </a:xfrm>
          <a:prstGeom prst="roundRect">
            <a:avLst>
              <a:gd name="adj" fmla="val 728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62500" y="2859435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Best Practices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762500" y="3082230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Versioning: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/api/v1/ or Accept-Version header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4762500" y="3240286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OpenAPI/Swagger for REST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4762500" y="3398341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Limiting: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Protect against abuse</a:t>
            </a:r>
            <a:endParaRPr lang="en-US" sz="675" dirty="0"/>
          </a:p>
        </p:txBody>
      </p:sp>
      <p:sp>
        <p:nvSpPr>
          <p:cNvPr id="32" name="Text 29"/>
          <p:cNvSpPr/>
          <p:nvPr/>
        </p:nvSpPr>
        <p:spPr>
          <a:xfrm>
            <a:off x="4762500" y="3556397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Handling: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Consistent error responses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4648200" y="3876377"/>
            <a:ext cx="4114800" cy="430411"/>
          </a:xfrm>
          <a:prstGeom prst="roundRect">
            <a:avLst>
              <a:gd name="adj" fmla="val 13278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743450" y="3971627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Guide: REST for CRUD | GraphQL for complex queries | gRPC for microservices | WebSocket for real-time</a:t>
            </a:r>
            <a:endParaRPr lang="en-US" sz="6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a93a8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ASSURANCE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13296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Strategies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464618" y="1878509"/>
            <a:ext cx="11314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PYRAMID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543050" y="2120354"/>
            <a:ext cx="952500" cy="449461"/>
          </a:xfrm>
          <a:prstGeom prst="roundRect">
            <a:avLst>
              <a:gd name="adj" fmla="val 8477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766697" y="2215604"/>
            <a:ext cx="5052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E2E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766697" y="2368004"/>
            <a:ext cx="50520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Slow, Few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1304925" y="2598390"/>
            <a:ext cx="1428750" cy="449461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79258" y="2693640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679258" y="2846040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971550" y="3076426"/>
            <a:ext cx="2095500" cy="500807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533525" y="319072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1533525" y="3356372"/>
            <a:ext cx="9715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Fast, Many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163092" y="3729633"/>
            <a:ext cx="1712268" cy="272355"/>
          </a:xfrm>
          <a:prstGeom prst="roundRect">
            <a:avLst>
              <a:gd name="adj" fmla="val 20984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281986" y="3805833"/>
            <a:ext cx="14744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 Unit | 20% Integration | 10% E2E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3848100" y="1917502"/>
            <a:ext cx="4914900" cy="1058912"/>
          </a:xfrm>
          <a:prstGeom prst="roundRect">
            <a:avLst>
              <a:gd name="adj" fmla="val 7196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962400" y="2031802"/>
            <a:ext cx="47800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Frameworks by Language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962400" y="2267992"/>
            <a:ext cx="47800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0DB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Jest, Vitest, Mocha, Cypress, Playwright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3962400" y="2426047"/>
            <a:ext cx="47800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Pytest, unittest, Robot Framework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3962400" y="2584103"/>
            <a:ext cx="47800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382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JUnit, Mockito, TestNG, Selenium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3962400" y="2742158"/>
            <a:ext cx="47800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A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Go:</a:t>
            </a:r>
            <a:r>
              <a:rPr lang="en-US" sz="675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Built-in testing package, Testify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3848100" y="3071664"/>
            <a:ext cx="2409825" cy="472380"/>
          </a:xfrm>
          <a:prstGeom prst="roundRect">
            <a:avLst>
              <a:gd name="adj" fmla="val 12098"/>
            </a:avLst>
          </a:prstGeom>
          <a:solidFill>
            <a:srgbClr val="E8F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3867150" y="3071664"/>
            <a:ext cx="0" cy="47238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981450" y="3166914"/>
            <a:ext cx="2224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TDD Approach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981450" y="3328839"/>
            <a:ext cx="22248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test first, then code. Red-Green-Refactor cycle.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6353175" y="3071664"/>
            <a:ext cx="2409825" cy="472380"/>
          </a:xfrm>
          <a:prstGeom prst="roundRect">
            <a:avLst>
              <a:gd name="adj" fmla="val 12098"/>
            </a:avLst>
          </a:prstGeom>
          <a:solidFill>
            <a:srgbClr val="F5E6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6372225" y="3071664"/>
            <a:ext cx="0" cy="472380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486525" y="3166914"/>
            <a:ext cx="2224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BDD Approach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486525" y="3328839"/>
            <a:ext cx="22248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Given-When-Then syntax. Cucumber, SpecFlow.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3848100" y="3639294"/>
            <a:ext cx="4914900" cy="323850"/>
          </a:xfrm>
          <a:prstGeom prst="roundRect">
            <a:avLst>
              <a:gd name="adj" fmla="val 176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943350" y="3734544"/>
            <a:ext cx="48188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Coverage:</a:t>
            </a:r>
            <a:r>
              <a:rPr lang="en-US" sz="750" dirty="0">
                <a:solidFill>
                  <a:srgbClr val="F0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Aim 80%+ but focus on critical paths. 100% coverage does not mean bug-free code!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13296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699320"/>
            <a:ext cx="4114800" cy="763786"/>
          </a:xfrm>
          <a:prstGeom prst="roundRect">
            <a:avLst>
              <a:gd name="adj" fmla="val 9977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699320"/>
            <a:ext cx="0" cy="763786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2450" y="1832670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Choose Technologies Wisely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52450" y="2044005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based on project needs, team skills, and scalability—not trends. React for large ecosystems, Vue for simplicity, Angular for enterprise.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2558355"/>
            <a:ext cx="4114800" cy="763786"/>
          </a:xfrm>
          <a:prstGeom prst="roundRect">
            <a:avLst>
              <a:gd name="adj" fmla="val 9977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558355"/>
            <a:ext cx="0" cy="76378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2450" y="2691705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Security is Non-Negotiable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52450" y="2903041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security at every layer from day one. Use OAuth, encrypt data, validate inputs, and integrate security testing in CI/CD.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3417391"/>
            <a:ext cx="4114800" cy="763786"/>
          </a:xfrm>
          <a:prstGeom prst="roundRect">
            <a:avLst>
              <a:gd name="adj" fmla="val 9977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417391"/>
            <a:ext cx="0" cy="763786"/>
          </a:xfrm>
          <a:prstGeom prst="line">
            <a:avLst/>
          </a:prstGeom>
          <a:noFill/>
          <a:ln w="381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2450" y="3550741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4285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Pick the Right Database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52450" y="3762077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for complex queries, MongoDB for flexibility, Redis for caching, Cassandra for scale. Often use multiple databases together.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48200" y="1741289"/>
            <a:ext cx="4114800" cy="763786"/>
          </a:xfrm>
          <a:prstGeom prst="roundRect">
            <a:avLst>
              <a:gd name="adj" fmla="val 9977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7250" y="1741289"/>
            <a:ext cx="0" cy="763786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19650" y="1874639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Automate Everything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19650" y="2085975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pipelines, testing, infrastructure as code. Automation reduces errors, speeds delivery, and ensures consistency.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48200" y="2600325"/>
            <a:ext cx="4114800" cy="763786"/>
          </a:xfrm>
          <a:prstGeom prst="roundRect">
            <a:avLst>
              <a:gd name="adj" fmla="val 9977"/>
            </a:avLst>
          </a:prstGeom>
          <a:solidFill>
            <a:srgbClr val="16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67250" y="2600325"/>
            <a:ext cx="0" cy="763786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19650" y="2733675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39C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Test Thoroughly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819650" y="2945011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the testing pyramid: 70% unit, 20% integration, 10% E2E. Focus on critical paths and maintainable test code.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48200" y="3459361"/>
            <a:ext cx="4114800" cy="679996"/>
          </a:xfrm>
          <a:prstGeom prst="roundRect">
            <a:avLst>
              <a:gd name="adj" fmla="val 11206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2500" y="3573661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Remember: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762500" y="375835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 applications are built incrementally. Start with a modular monolith, iterate often, measure performance, and always prioritize user experience.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39000" y="571500"/>
            <a:ext cx="1143000" cy="1143000"/>
          </a:xfrm>
          <a:prstGeom prst="roundRect">
            <a:avLst>
              <a:gd name="adj" fmla="val 80000"/>
            </a:avLst>
          </a:prstGeom>
          <a:noFill/>
          <a:ln w="2857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3429000"/>
            <a:ext cx="762000" cy="7620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16041" y="1286917"/>
            <a:ext cx="29119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857625" y="2010817"/>
            <a:ext cx="142875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40714" y="2239417"/>
            <a:ext cx="24624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03402" y="3035647"/>
            <a:ext cx="2337048" cy="820936"/>
          </a:xfrm>
          <a:prstGeom prst="roundRect">
            <a:avLst>
              <a:gd name="adj" fmla="val 9282"/>
            </a:avLst>
          </a:prstGeom>
          <a:solidFill>
            <a:srgbClr val="162540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78367" y="3235672"/>
            <a:ext cx="15871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With 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91306" y="3509963"/>
            <a:ext cx="2673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337801" y="3509963"/>
            <a:ext cx="4041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020431" y="3509963"/>
            <a:ext cx="3327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61920" y="4724400"/>
            <a:ext cx="1946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Web Application Development |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3149</Words>
  <Application>Microsoft Macintosh PowerPoint</Application>
  <PresentationFormat>On-screen Show (16:9)</PresentationFormat>
  <Paragraphs>462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Web Application Development</dc:title>
  <dc:subject>Complete guide to building modern web applications</dc:subject>
  <dc:creator>Web Development Guide</dc:creator>
  <cp:lastModifiedBy>Yathish L</cp:lastModifiedBy>
  <cp:revision>2</cp:revision>
  <dcterms:created xsi:type="dcterms:W3CDTF">2026-01-08T13:00:41Z</dcterms:created>
  <dcterms:modified xsi:type="dcterms:W3CDTF">2026-01-08T13:09:22Z</dcterms:modified>
</cp:coreProperties>
</file>